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33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jo Djalo" userId="50adb5ebaf8edbd5" providerId="LiveId" clId="{F9ADE3B7-96A7-4AFD-9629-82E79260D754}"/>
    <pc:docChg chg="custSel delSld modSld">
      <pc:chgData name="Sadjo Djalo" userId="50adb5ebaf8edbd5" providerId="LiveId" clId="{F9ADE3B7-96A7-4AFD-9629-82E79260D754}" dt="2026-06-09T10:10:23.640" v="60" actId="20577"/>
      <pc:docMkLst>
        <pc:docMk/>
      </pc:docMkLst>
      <pc:sldChg chg="modSp mod">
        <pc:chgData name="Sadjo Djalo" userId="50adb5ebaf8edbd5" providerId="LiveId" clId="{F9ADE3B7-96A7-4AFD-9629-82E79260D754}" dt="2026-06-09T10:10:23.640" v="60" actId="20577"/>
        <pc:sldMkLst>
          <pc:docMk/>
          <pc:sldMk cId="0" sldId="256"/>
        </pc:sldMkLst>
        <pc:spChg chg="mod">
          <ac:chgData name="Sadjo Djalo" userId="50adb5ebaf8edbd5" providerId="LiveId" clId="{F9ADE3B7-96A7-4AFD-9629-82E79260D754}" dt="2026-06-09T08:53:51.710" v="1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djo Djalo" userId="50adb5ebaf8edbd5" providerId="LiveId" clId="{F9ADE3B7-96A7-4AFD-9629-82E79260D754}" dt="2026-06-09T10:10:23.640" v="60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Sadjo Djalo" userId="50adb5ebaf8edbd5" providerId="LiveId" clId="{F9ADE3B7-96A7-4AFD-9629-82E79260D754}" dt="2026-06-09T09:14:16.644" v="24" actId="20577"/>
        <pc:sldMkLst>
          <pc:docMk/>
          <pc:sldMk cId="0" sldId="260"/>
        </pc:sldMkLst>
        <pc:spChg chg="mod">
          <ac:chgData name="Sadjo Djalo" userId="50adb5ebaf8edbd5" providerId="LiveId" clId="{F9ADE3B7-96A7-4AFD-9629-82E79260D754}" dt="2026-06-09T09:14:16.644" v="24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adjo Djalo" userId="50adb5ebaf8edbd5" providerId="LiveId" clId="{F9ADE3B7-96A7-4AFD-9629-82E79260D754}" dt="2026-06-09T09:09:02.322" v="12" actId="1076"/>
          <ac:spMkLst>
            <pc:docMk/>
            <pc:sldMk cId="0" sldId="260"/>
            <ac:spMk id="14" creationId="{00000000-0000-0000-0000-000000000000}"/>
          </ac:spMkLst>
        </pc:spChg>
      </pc:sldChg>
      <pc:sldChg chg="delSp modSp mod">
        <pc:chgData name="Sadjo Djalo" userId="50adb5ebaf8edbd5" providerId="LiveId" clId="{F9ADE3B7-96A7-4AFD-9629-82E79260D754}" dt="2026-06-09T10:08:08.782" v="33" actId="1076"/>
        <pc:sldMkLst>
          <pc:docMk/>
          <pc:sldMk cId="0" sldId="262"/>
        </pc:sldMkLst>
        <pc:spChg chg="del">
          <ac:chgData name="Sadjo Djalo" userId="50adb5ebaf8edbd5" providerId="LiveId" clId="{F9ADE3B7-96A7-4AFD-9629-82E79260D754}" dt="2026-06-09T10:07:33.674" v="27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Sadjo Djalo" userId="50adb5ebaf8edbd5" providerId="LiveId" clId="{F9ADE3B7-96A7-4AFD-9629-82E79260D754}" dt="2026-06-09T10:07:43.103" v="29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Sadjo Djalo" userId="50adb5ebaf8edbd5" providerId="LiveId" clId="{F9ADE3B7-96A7-4AFD-9629-82E79260D754}" dt="2026-06-09T10:07:41.194" v="28" actId="21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adjo Djalo" userId="50adb5ebaf8edbd5" providerId="LiveId" clId="{F9ADE3B7-96A7-4AFD-9629-82E79260D754}" dt="2026-06-09T10:07:47.917" v="30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Sadjo Djalo" userId="50adb5ebaf8edbd5" providerId="LiveId" clId="{F9ADE3B7-96A7-4AFD-9629-82E79260D754}" dt="2026-06-09T10:08:01.816" v="32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Sadjo Djalo" userId="50adb5ebaf8edbd5" providerId="LiveId" clId="{F9ADE3B7-96A7-4AFD-9629-82E79260D754}" dt="2026-06-09T10:08:08.782" v="33" actId="1076"/>
          <ac:spMkLst>
            <pc:docMk/>
            <pc:sldMk cId="0" sldId="262"/>
            <ac:spMk id="25" creationId="{00000000-0000-0000-0000-000000000000}"/>
          </ac:spMkLst>
        </pc:spChg>
      </pc:sldChg>
      <pc:sldChg chg="del">
        <pc:chgData name="Sadjo Djalo" userId="50adb5ebaf8edbd5" providerId="LiveId" clId="{F9ADE3B7-96A7-4AFD-9629-82E79260D754}" dt="2026-06-09T10:08:35.354" v="34" actId="4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707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 tema, a UC e os membros do grupo. Duração estimada: 1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estrutura da apresentação.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contexto do mercado imobiliário PT. Apresentar a questão de investigação e os 4 objetivos. Duração: ~2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pipeline completo: recolha → pré-processamento → treino → persistência → inferência. Destacar a separação em dois módulos independentes. Duração: ~2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AO VIVO.
1. Mostrar o ficheiro CSV com os dados brutos.
2. Correr o script de treino e mostrar as métricas no terminal.
3. Abrir a interface Streamlit no browser.
4. Inserir exemplo: 90m², T2 → mostrar preço estimado.
Duração: ~4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decisão técnica e a alternativa considerada. Enfatizar que as escolhas foram pragmáticas para o contexto académico com dados limitados. Duração: ~2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honesto sobre o R² negativo — explicar as causas técnicas (dados insuficientes, mistura de tipos). O pipeline está correcto; o problema é a qualidade/quantidade dos dados. Duração: ~2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o que foi feito com honestidade. Mostrar que o pipeline técnico está correcto e que as limitações são de dados. Propor melhorias concretas. Duração: ~2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Previsão de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de Casas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Web Scraping · Streamlit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0" y="1097280"/>
            <a:ext cx="1737360" cy="2560320"/>
          </a:xfrm>
          <a:prstGeom prst="roundRect">
            <a:avLst>
              <a:gd name="adj" fmla="val 5263"/>
            </a:avLst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7223760" y="1234440"/>
            <a:ext cx="155448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2025/2026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Bemvindo </a:t>
            </a:r>
            <a:r>
              <a:rPr lang="en-US" sz="110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Elias a22510911 · Sadjo Djalo a22502320 </a:t>
            </a:r>
            <a:r>
              <a:rPr lang="en-US" sz="11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Francisco 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8D6E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216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&amp; 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imobiliário e questão central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8D6E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359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da Solução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743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módulos e estrutura de ficheiros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8D6E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566928" y="365760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56692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502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886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funcionamento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8D6E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956048" y="137160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95604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1216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Escolhas Técnicas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1600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Justificação das tecnologias usadas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8D6E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4956048" y="251460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95604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2359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&amp; Avaliação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2743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R² e análise crítica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290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C8D6E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4956048" y="365760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495604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3502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&amp; Trabalho Futuro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32120" y="3886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e próximos passos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&amp; Problema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EAF4FB"/>
          </a:solidFill>
          <a:ln w="12700">
            <a:solidFill>
              <a:srgbClr val="C8D6E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imobiliário português tem sofrido volatilidade crescente.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ferramentas acessíveis, compradores e vendedores dependem de: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Avaliadores certificados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Comparações manuais subjectivas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morosos e dispendiosos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84632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Central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um conjunto de características mensuráveis, é possível estimar automaticamente o preço de mercado de um imóvel?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Recolher dados reais via Web Scraping do OLX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modelo de Regressão Linear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via interface Streamlit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com métricas MAE e R²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da Solução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OLX.pt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6459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 registos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28216" y="1737360"/>
            <a:ext cx="182880" cy="0"/>
          </a:xfrm>
          <a:prstGeom prst="line">
            <a:avLst/>
          </a:prstGeom>
          <a:noFill/>
          <a:ln w="254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1947672" y="109728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1947672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47672" y="16459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regex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 válidos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737360"/>
            <a:ext cx="182880" cy="0"/>
          </a:xfrm>
          <a:prstGeom prst="line">
            <a:avLst/>
          </a:prstGeom>
          <a:noFill/>
          <a:ln w="254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3575304" y="109728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E8DAEF"/>
          </a:solidFill>
          <a:ln w="12700">
            <a:solidFill>
              <a:srgbClr val="7D3C9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3575304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75304" y="16459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83480" y="1737360"/>
            <a:ext cx="182880" cy="0"/>
          </a:xfrm>
          <a:prstGeom prst="line">
            <a:avLst/>
          </a:prstGeom>
          <a:noFill/>
          <a:ln w="254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5202936" y="109728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202936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modelo.pkl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02936" y="16459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Serialização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11112" y="1737360"/>
            <a:ext cx="182880" cy="0"/>
          </a:xfrm>
          <a:prstGeom prst="line">
            <a:avLst/>
          </a:prstGeom>
          <a:noFill/>
          <a:ln w="254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6830568" y="1097280"/>
            <a:ext cx="1371600" cy="1280160"/>
          </a:xfrm>
          <a:prstGeom prst="roundRect">
            <a:avLst>
              <a:gd name="adj" fmla="val 7143"/>
            </a:avLst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6830568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30568" y="164592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514600"/>
            <a:ext cx="5303520" cy="411480"/>
          </a:xfrm>
          <a:prstGeom prst="roundRect">
            <a:avLst>
              <a:gd name="adj" fmla="val 13333"/>
            </a:avLst>
          </a:prstGeom>
          <a:solidFill>
            <a:srgbClr val="EBF5FB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320040" y="254203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TREINO  (organização e treino.py)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132320" y="2514600"/>
            <a:ext cx="1691640" cy="411480"/>
          </a:xfrm>
          <a:prstGeom prst="roundRect">
            <a:avLst>
              <a:gd name="adj" fmla="val 13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7150608" y="2542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INFERÊNCIA (interface.py)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Ficheiros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347472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502920" y="3547872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projeto_imoveis/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ML/olx-2026-06-08.csv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organização e treino.py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interface.py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modeloprevisaodeimovel.pkl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4290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módulos comunicam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exclusivamente via ficheiro .pkl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(acoplamento mínimo)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funcionamento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1A3A50"/>
          </a:solidFill>
          <a:ln w="12700">
            <a:solidFill>
              <a:srgbClr val="148F7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61872" y="2103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treino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24505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"organização e treino.py"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1A3A50"/>
          </a:solidFill>
          <a:ln w="12700">
            <a:solidFill>
              <a:srgbClr val="148F7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685800" y="352044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61872" y="3337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interface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36850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streamlit run interface.py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1A3A50"/>
          </a:solidFill>
          <a:ln w="12700">
            <a:solidFill>
              <a:srgbClr val="148F7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 dirty="0"/>
          </a:p>
        </p:txBody>
      </p:sp>
      <p:sp>
        <p:nvSpPr>
          <p:cNvPr id="15" name="Shape 13"/>
          <p:cNvSpPr/>
          <p:nvPr/>
        </p:nvSpPr>
        <p:spPr>
          <a:xfrm>
            <a:off x="4983480" y="228600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49834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59552" y="2103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browser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59552" y="24505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http://localhost:8501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246120"/>
            <a:ext cx="3931920" cy="1051560"/>
          </a:xfrm>
          <a:prstGeom prst="roundRect">
            <a:avLst>
              <a:gd name="adj" fmla="val 8696"/>
            </a:avLst>
          </a:prstGeom>
          <a:solidFill>
            <a:srgbClr val="1A3A50"/>
          </a:solidFill>
          <a:ln w="12700">
            <a:solidFill>
              <a:srgbClr val="148F7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4983480" y="3520440"/>
            <a:ext cx="457200" cy="457200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49834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59552" y="3337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previsão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9552" y="36850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AD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Inserir área e tipologia → ver preço estimado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Escolhas Técnicas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Linear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Random Forest / XGBoost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Interpretável, sem hiperparâmetros complexos e adequada para features numéricas com dataset pequeno. Coeficientes têm significado directo.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892040" y="1143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481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Flask / Django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rápido em Python puro, sem necessidade de HTML/CSS/JS. Interface funcional em poucas linhas de código.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E8DAEF"/>
          </a:solidFill>
          <a:ln w="12700">
            <a:solidFill>
              <a:srgbClr val="7D3C9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50292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47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pickle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 para objectos NumPy e scikit-learn. Ficheiros mais compactos e carregamento mais eficiente em memória.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4892040" y="31089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4472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Selenium / Scrapy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74904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visual sem necessidade de código. Adequado para recolha pontual de dados de páginas com JavaScript.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&amp; Avaliação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D6EAF8"/>
          </a:solidFill>
          <a:ln w="12700">
            <a:solidFill>
              <a:srgbClr val="1A5276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7922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DEBD0"/>
          </a:solidFill>
          <a:ln w="12700">
            <a:solidFill>
              <a:srgbClr val="E67E2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2514600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14600" y="17922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D5F5E3"/>
          </a:solidFill>
          <a:ln w="12700">
            <a:solidFill>
              <a:srgbClr val="148F77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4663440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17922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(Desvio Médio)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812280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12280" y="17922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(Qualidade Ajuste)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Crítica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57200" y="3090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pequeno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456432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amostras são insuficientes para generalização robusta (de 241 registos brutos)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2999232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3566160" y="305409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insuficientes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66160" y="3438144"/>
            <a:ext cx="24688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e quartos não capturam localização, conservação ou tipo de transacção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 &amp; Trabalho Futuro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Objectivos Atingidos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recolha via Web Scraper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automatizado (regex + pandas)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treinado e serializado (joblib)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Streamlit funcional e responsiva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treino / inferência (arquitectura limpa)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66344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Limitação Principal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800600" y="150876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−0.57 → modelo não generalizável em produção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dados insuficientes e heterogéneos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718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Recolher 500–1000 registos com campo tipo_transacao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localização (distrito) como feature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modelos separados (venda vs arrendamento)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Experimentar XGBoost / LightGBM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em Streamlit Cloud com retreinamento auto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808</Words>
  <Application>Microsoft Office PowerPoint</Application>
  <PresentationFormat>Apresentação no Ecrã (16:9)</PresentationFormat>
  <Paragraphs>148</Paragraphs>
  <Slides>8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Previsão de Preços de Imóveis</dc:title>
  <dc:subject>PptxGenJS Presentation</dc:subject>
  <dc:creator>PptxGenJS</dc:creator>
  <cp:lastModifiedBy>Sadjo Djalo</cp:lastModifiedBy>
  <cp:revision>1</cp:revision>
  <dcterms:created xsi:type="dcterms:W3CDTF">2026-06-09T08:50:28Z</dcterms:created>
  <dcterms:modified xsi:type="dcterms:W3CDTF">2026-06-09T10:10:25Z</dcterms:modified>
</cp:coreProperties>
</file>