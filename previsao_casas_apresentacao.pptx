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833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djo Djalo" userId="50adb5ebaf8edbd5" providerId="LiveId" clId="{F9ADE3B7-96A7-4AFD-9629-82E79260D754}"/>
    <pc:docChg chg="modSld">
      <pc:chgData name="Sadjo Djalo" userId="50adb5ebaf8edbd5" providerId="LiveId" clId="{F9ADE3B7-96A7-4AFD-9629-82E79260D754}" dt="2026-06-09T09:14:16.644" v="24" actId="20577"/>
      <pc:docMkLst>
        <pc:docMk/>
      </pc:docMkLst>
      <pc:sldChg chg="modSp mod">
        <pc:chgData name="Sadjo Djalo" userId="50adb5ebaf8edbd5" providerId="LiveId" clId="{F9ADE3B7-96A7-4AFD-9629-82E79260D754}" dt="2026-06-09T08:53:51.710" v="11" actId="20577"/>
        <pc:sldMkLst>
          <pc:docMk/>
          <pc:sldMk cId="0" sldId="256"/>
        </pc:sldMkLst>
        <pc:spChg chg="mod">
          <ac:chgData name="Sadjo Djalo" userId="50adb5ebaf8edbd5" providerId="LiveId" clId="{F9ADE3B7-96A7-4AFD-9629-82E79260D754}" dt="2026-06-09T08:53:51.710" v="11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Sadjo Djalo" userId="50adb5ebaf8edbd5" providerId="LiveId" clId="{F9ADE3B7-96A7-4AFD-9629-82E79260D754}" dt="2026-06-09T09:14:16.644" v="24" actId="20577"/>
        <pc:sldMkLst>
          <pc:docMk/>
          <pc:sldMk cId="0" sldId="260"/>
        </pc:sldMkLst>
        <pc:spChg chg="mod">
          <ac:chgData name="Sadjo Djalo" userId="50adb5ebaf8edbd5" providerId="LiveId" clId="{F9ADE3B7-96A7-4AFD-9629-82E79260D754}" dt="2026-06-09T09:14:16.644" v="2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djo Djalo" userId="50adb5ebaf8edbd5" providerId="LiveId" clId="{F9ADE3B7-96A7-4AFD-9629-82E79260D754}" dt="2026-06-09T09:09:02.322" v="12" actId="1076"/>
          <ac:spMkLst>
            <pc:docMk/>
            <pc:sldMk cId="0" sldId="260"/>
            <ac:spMk id="1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075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Apresentar o tema, a UC e os membros do grupo. Duração estimada: 1 minuto.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estrutura da apresentação.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contexto do mercado imobiliário PT. Apresentar a questão de investigação e os 4 objetivos. Duração: ~2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pipeline completo: recolha → pré-processamento → treino → persistência → inferência. Destacar a separação em dois módulos independentes. Duração: ~2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AO VIVO.
1. Mostrar o ficheiro CSV com os dados brutos.
2. Correr o script de treino e mostrar as métricas no terminal.
3. Abrir a interface Streamlit no browser.
4. Inserir exemplo: 90m², T2 → mostrar preço estimado.
Duração: ~4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cada decisão técnica e a alternativa considerada. Enfatizar que as escolhas foram pragmáticas para o contexto académico com dados limitados. Duração: ~2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honesto sobre o R² negativo — explicar as causas técnicas (dados insuficientes, mistura de tipos). O pipeline está correcto; o problema é a qualidade/quantidade dos dados. Duração: ~2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Resumir o que foi feito com honestidade. Mostrar que o pipeline técnico está correcto e que as limitações são de dados. Propor melhorias concretas. Duração: ~2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o Q&amp;A. Não mostrar necessariamente — usar como referência se o docente fizer estas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365760" y="91440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Previsão de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de Casas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65760" y="283464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· Web Scraping · Streamlit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32320" y="1097280"/>
            <a:ext cx="1737360" cy="2560320"/>
          </a:xfrm>
          <a:prstGeom prst="roundRect">
            <a:avLst>
              <a:gd name="adj" fmla="val 5263"/>
            </a:avLst>
          </a:prstGeom>
          <a:solidFill>
            <a:srgbClr val="1A3A50"/>
          </a:solidFill>
          <a:ln w="12700">
            <a:solidFill>
              <a:srgbClr val="1A3A5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7223760" y="1234440"/>
            <a:ext cx="155448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B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Bemvindo Elias · Sadjo Djalo · João Francisco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6576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1216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6002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imobiliário e questão central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566928" y="25146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56692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2359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da Solução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27432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módulos e estrutura de ficheiros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566928" y="36576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5669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502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ao Vivo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8862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em funcionamento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1430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4956048" y="13716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956048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32120" y="1216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Escolhas Técnicas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32120" y="16002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Justificação das tecnologias usadas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2860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956048" y="25146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95604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32120" y="2359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&amp; Avaliação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27432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R² e análise crítica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4290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4956048" y="36576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495604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32120" y="350215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Trabalho Futuro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32120" y="38862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e próximos passos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3474720"/>
          </a:xfrm>
          <a:prstGeom prst="roundRect">
            <a:avLst>
              <a:gd name="adj" fmla="val 2632"/>
            </a:avLst>
          </a:prstGeom>
          <a:solidFill>
            <a:srgbClr val="EAF4FB"/>
          </a:solidFill>
          <a:ln w="12700">
            <a:solidFill>
              <a:srgbClr val="C8D6E0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imobiliário português tem sofrido volatilidade crescente.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ferramentas acessíveis, compradores e vendedores dependem de: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Avaliadores certificados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Comparações manuais subjectivas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morosos e dispendiosos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280160"/>
          </a:xfrm>
          <a:prstGeom prst="roundRect">
            <a:avLst>
              <a:gd name="adj" fmla="val 7143"/>
            </a:avLst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846320" y="10789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Questão Central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um conjunto de características mensuráveis, é possível estimar automaticamente o preço de mercado de um imóvel?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846320" y="24231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743200"/>
            <a:ext cx="4114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Recolher dados reais via Web Scraping do OLX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modelo de Regressão Linear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Disponibilizar via interface Streamlit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com métricas MAE e R²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da Solução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1371600" cy="1280160"/>
          </a:xfrm>
          <a:prstGeom prst="roundRect">
            <a:avLst>
              <a:gd name="adj" fmla="val 7143"/>
            </a:avLst>
          </a:prstGeom>
          <a:solidFill>
            <a:srgbClr val="D6EAF8"/>
          </a:solidFill>
          <a:ln w="12700">
            <a:solidFill>
              <a:srgbClr val="1A5276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320040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OLX.pt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6459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registos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28216" y="1737360"/>
            <a:ext cx="182880" cy="0"/>
          </a:xfrm>
          <a:prstGeom prst="line">
            <a:avLst/>
          </a:prstGeom>
          <a:noFill/>
          <a:ln w="254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Shape 6"/>
          <p:cNvSpPr/>
          <p:nvPr/>
        </p:nvSpPr>
        <p:spPr>
          <a:xfrm>
            <a:off x="1947672" y="1097280"/>
            <a:ext cx="1371600" cy="1280160"/>
          </a:xfrm>
          <a:prstGeom prst="roundRect">
            <a:avLst>
              <a:gd name="adj" fmla="val 7143"/>
            </a:avLst>
          </a:prstGeom>
          <a:solidFill>
            <a:srgbClr val="D5F5E3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1947672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47672" y="16459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+ regex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~34 válidos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5848" y="1737360"/>
            <a:ext cx="182880" cy="0"/>
          </a:xfrm>
          <a:prstGeom prst="line">
            <a:avLst/>
          </a:prstGeom>
          <a:noFill/>
          <a:ln w="254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3575304" y="1097280"/>
            <a:ext cx="1371600" cy="1280160"/>
          </a:xfrm>
          <a:prstGeom prst="roundRect">
            <a:avLst>
              <a:gd name="adj" fmla="val 7143"/>
            </a:avLst>
          </a:prstGeom>
          <a:solidFill>
            <a:srgbClr val="E8DAEF"/>
          </a:solidFill>
          <a:ln w="12700">
            <a:solidFill>
              <a:srgbClr val="7D3C98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3575304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ML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5304" y="16459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LinearRegression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83480" y="1737360"/>
            <a:ext cx="182880" cy="0"/>
          </a:xfrm>
          <a:prstGeom prst="line">
            <a:avLst/>
          </a:prstGeom>
          <a:noFill/>
          <a:ln w="254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5202936" y="1097280"/>
            <a:ext cx="1371600" cy="1280160"/>
          </a:xfrm>
          <a:prstGeom prst="roundRect">
            <a:avLst>
              <a:gd name="adj" fmla="val 7143"/>
            </a:avLst>
          </a:prstGeom>
          <a:solidFill>
            <a:srgbClr val="FEF9E7"/>
          </a:solidFill>
          <a:ln w="12700">
            <a:solidFill>
              <a:srgbClr val="D4AC0D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5202936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C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modelo.pkl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02936" y="16459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Serialização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11112" y="1737360"/>
            <a:ext cx="182880" cy="0"/>
          </a:xfrm>
          <a:prstGeom prst="line">
            <a:avLst/>
          </a:prstGeom>
          <a:noFill/>
          <a:ln w="254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6830568" y="1097280"/>
            <a:ext cx="1371600" cy="1280160"/>
          </a:xfrm>
          <a:prstGeom prst="roundRect">
            <a:avLst>
              <a:gd name="adj" fmla="val 7143"/>
            </a:avLst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6830568" y="1188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30568" y="16459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514600"/>
            <a:ext cx="5303520" cy="411480"/>
          </a:xfrm>
          <a:prstGeom prst="roundRect">
            <a:avLst>
              <a:gd name="adj" fmla="val 13333"/>
            </a:avLst>
          </a:prstGeom>
          <a:solidFill>
            <a:srgbClr val="EBF5FB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Text 22"/>
          <p:cNvSpPr/>
          <p:nvPr/>
        </p:nvSpPr>
        <p:spPr>
          <a:xfrm>
            <a:off x="320040" y="254203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TREINO  (organização e treino.py)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16916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7150608" y="2542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(interface.py)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Ficheiros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34747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1C2833"/>
          </a:solidFill>
          <a:ln w="12700">
            <a:solidFill>
              <a:srgbClr val="1C283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Text 27"/>
          <p:cNvSpPr/>
          <p:nvPr/>
        </p:nvSpPr>
        <p:spPr>
          <a:xfrm>
            <a:off x="502920" y="354787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projeto_imoveis/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ML/olx-2026-06-08.csv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organização e treino.py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interface.py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modeloprevisaodeimovel.pkl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342900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módulos comunicam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exclusivamente via ficheiro .pkl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(acoplamento mínimo)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em funcionamento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1031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treino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61872" y="245059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"organização e treino.py"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685800" y="352044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68580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337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Lançar interface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61872" y="36850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streamlit run interface.py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01168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15" name="Shape 13"/>
          <p:cNvSpPr/>
          <p:nvPr/>
        </p:nvSpPr>
        <p:spPr>
          <a:xfrm>
            <a:off x="4983480" y="228600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49834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59552" y="21031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browser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59552" y="245059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http://localhost:8501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3246120"/>
            <a:ext cx="3931920" cy="1051560"/>
          </a:xfrm>
          <a:prstGeom prst="roundRect">
            <a:avLst>
              <a:gd name="adj" fmla="val 8696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4983480" y="3520440"/>
            <a:ext cx="457200" cy="457200"/>
          </a:xfrm>
          <a:prstGeom prst="ellipse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983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59552" y="3337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previsão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59552" y="36850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Inserir área e tipologia → ver preço estimado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Escolhas Técnicas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1737360"/>
          </a:xfrm>
          <a:prstGeom prst="roundRect">
            <a:avLst>
              <a:gd name="adj" fmla="val 5263"/>
            </a:avLst>
          </a:prstGeom>
          <a:solidFill>
            <a:srgbClr val="D6EAF8"/>
          </a:solidFill>
          <a:ln w="12700">
            <a:solidFill>
              <a:srgbClr val="1A5276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Linear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Random Forest / XGBoost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Interpretável, sem hiperparâmetros complexos e adequada para features numéricas com dataset pequeno. Coeficientes têm significado directo.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114800" cy="1737360"/>
          </a:xfrm>
          <a:prstGeom prst="roundRect">
            <a:avLst>
              <a:gd name="adj" fmla="val 5263"/>
            </a:avLst>
          </a:prstGeom>
          <a:solidFill>
            <a:srgbClr val="D5F5E3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4892040" y="11430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4813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Flask / Django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92040" y="17830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rápido em Python puro, sem necessidade de HTML/CSS/JS. Interface funcional em poucas linhas de código.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4114800" cy="1737360"/>
          </a:xfrm>
          <a:prstGeom prst="roundRect">
            <a:avLst>
              <a:gd name="adj" fmla="val 5263"/>
            </a:avLst>
          </a:prstGeom>
          <a:solidFill>
            <a:srgbClr val="E8DAEF"/>
          </a:solidFill>
          <a:ln w="12700">
            <a:solidFill>
              <a:srgbClr val="7D3C98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502920" y="3108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4472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pickle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37490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Optimizado para objectos NumPy e scikit-learn. Ficheiros mais compactos e carregamento mais eficiente em memória.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4114800" cy="1737360"/>
          </a:xfrm>
          <a:prstGeom prst="roundRect">
            <a:avLst>
              <a:gd name="adj" fmla="val 5263"/>
            </a:avLst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4892040" y="3108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34472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Selenium / Scrapy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2040" y="37490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visual sem necessidade de código. Adequado para recolha pontual de dados de páginas com JavaScript.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&amp; Avaliação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D6EAF8"/>
          </a:solidFill>
          <a:ln w="12700">
            <a:solidFill>
              <a:srgbClr val="1A5276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7922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2514600" y="111556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14600" y="17922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D5F5E3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4663440" y="111556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293€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7922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(Desvio Médio)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12280" y="100584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812280" y="111556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−0.57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812280" y="17922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(Qualidade Ajuste)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Crítica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30175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EF9E7"/>
          </a:solidFill>
          <a:ln w="12700">
            <a:solidFill>
              <a:srgbClr val="D4AC0D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57200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95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pequeno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amostras são insuficientes para generalização robusta (de 241 registos brutos)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30175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EF9E7"/>
          </a:solidFill>
          <a:ln w="12700">
            <a:solidFill>
              <a:srgbClr val="D4AC0D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3383280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95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heterogéneos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3456432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 de venda (300.000€) e arrendamento (400€) sem etiqueta explícita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EF9E7"/>
          </a:solidFill>
          <a:ln w="12700">
            <a:solidFill>
              <a:srgbClr val="D4AC0D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Text 22"/>
          <p:cNvSpPr/>
          <p:nvPr/>
        </p:nvSpPr>
        <p:spPr>
          <a:xfrm>
            <a:off x="6309360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95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insuficientes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09360" y="3456432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e quartos não capturam localização, conservação ou tipo de transacção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Trabalho Futuro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Objectivos Atingidos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recolha via Web Scraper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 automatizado (regex + pandas)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treinado e serializado (joblib)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Streamlit funcional e responsiva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treino / inferência (arquitectura limpa)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66344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Limitação Principal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17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800600" y="15087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−0.57 → modelo não generalizável em produção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dados insuficientes e heterogéneos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25603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71800"/>
            <a:ext cx="4114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Recolher 500–1000 registos com campo tipo_transacao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 localização (distrito) como feature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modelos separados (venda vs arrendamento)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Experimentar XGBoost / LightGBM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em Streamlit Cloud com retreinamento auto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Frequentes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— Preparação para o Docente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Porque é que o R² é negativo?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Dataset misto (venda + arrendamento) sem etiqueta e apenas 34 amostras. O pipeline está correcto; faltam dados.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4173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892040" y="15087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Porque Regressão Linear e não Random Forest?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20116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Com 34 amostras, modelos mais complexos overfitam. A RL é mais interpretável e robusta nesta escala.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32004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Porque o preço desce ao aumentar a área?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Casas maiores no dataset são rurais e mais baratas. Com mais dados diversificados, este comportamento corrige-se.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2004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1A3A50"/>
          </a:solidFill>
          <a:ln w="12700">
            <a:solidFill>
              <a:srgbClr val="148F77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892040" y="3291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Por que não incluíram localização?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3794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Encoding corrompido nos campos de texto do scraper (ex: 'Guimarães' → 'Guimar e'). A feature foi excluída até nova recolha.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989</Words>
  <Application>Microsoft Office PowerPoint</Application>
  <PresentationFormat>Apresentação no Ecrã (16:9)</PresentationFormat>
  <Paragraphs>162</Paragraphs>
  <Slides>9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Previsão de Preços de Imóveis</dc:title>
  <dc:subject>PptxGenJS Presentation</dc:subject>
  <dc:creator>PptxGenJS</dc:creator>
  <cp:lastModifiedBy>Sadjo Djalo</cp:lastModifiedBy>
  <cp:revision>1</cp:revision>
  <dcterms:created xsi:type="dcterms:W3CDTF">2026-06-09T08:50:28Z</dcterms:created>
  <dcterms:modified xsi:type="dcterms:W3CDTF">2026-06-09T09:14:23Z</dcterms:modified>
</cp:coreProperties>
</file>